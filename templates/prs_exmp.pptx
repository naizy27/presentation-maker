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3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Body Level One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2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2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2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1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Body Level One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Agenda Topics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5"/>
            <a:ext cx="21971000" cy="7241587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2430023" y="10675453"/>
            <a:ext cx="2020005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2"/>
          </a:xfrm>
          <a:prstGeom prst="rect">
            <a:avLst/>
          </a:prstGeom>
        </p:spPr>
        <p:txBody>
          <a:bodyPr numCol="1" spcCol="38100"/>
          <a:lstStyle>
            <a:lvl1pPr marL="300875" indent="-131851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rectangles"/>
          <p:cNvGrpSpPr/>
          <p:nvPr/>
        </p:nvGrpSpPr>
        <p:grpSpPr>
          <a:xfrm>
            <a:off x="-17" y="6481530"/>
            <a:ext cx="24384022" cy="378962"/>
            <a:chOff x="-1" y="-1"/>
            <a:chExt cx="24384021" cy="378961"/>
          </a:xfrm>
        </p:grpSpPr>
        <p:sp>
          <p:nvSpPr>
            <p:cNvPr id="171" name="Rectangle 1"/>
            <p:cNvSpPr/>
            <p:nvPr/>
          </p:nvSpPr>
          <p:spPr>
            <a:xfrm>
              <a:off x="-2" y="-2"/>
              <a:ext cx="6096009" cy="378962"/>
            </a:xfrm>
            <a:prstGeom prst="rect">
              <a:avLst/>
            </a:prstGeom>
            <a:solidFill>
              <a:srgbClr val="ABCEF4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72" name="Rectangle 2"/>
            <p:cNvSpPr/>
            <p:nvPr/>
          </p:nvSpPr>
          <p:spPr>
            <a:xfrm>
              <a:off x="6096008" y="-2"/>
              <a:ext cx="6096003" cy="378962"/>
            </a:xfrm>
            <a:prstGeom prst="rect">
              <a:avLst/>
            </a:prstGeom>
            <a:solidFill>
              <a:srgbClr val="4F9BE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73" name="Rectangle 3"/>
            <p:cNvSpPr/>
            <p:nvPr/>
          </p:nvSpPr>
          <p:spPr>
            <a:xfrm>
              <a:off x="12192009" y="-2"/>
              <a:ext cx="6096007" cy="378962"/>
            </a:xfrm>
            <a:prstGeom prst="rect">
              <a:avLst/>
            </a:prstGeom>
            <a:solidFill>
              <a:srgbClr val="124D8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74" name="Rectangle 4"/>
            <p:cNvSpPr/>
            <p:nvPr/>
          </p:nvSpPr>
          <p:spPr>
            <a:xfrm>
              <a:off x="18288013" y="-2"/>
              <a:ext cx="6096007" cy="378962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176" name="substrate"/>
          <p:cNvSpPr/>
          <p:nvPr/>
        </p:nvSpPr>
        <p:spPr>
          <a:xfrm>
            <a:off x="-5" y="11262104"/>
            <a:ext cx="24384008" cy="1591065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77" name="author info"/>
          <p:cNvSpPr txBox="1"/>
          <p:nvPr/>
        </p:nvSpPr>
        <p:spPr>
          <a:xfrm>
            <a:off x="7245877" y="12061558"/>
            <a:ext cx="9892245" cy="503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7275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Группа</a:t>
            </a:r>
          </a:p>
        </p:txBody>
      </p:sp>
      <p:sp>
        <p:nvSpPr>
          <p:cNvPr id="178" name="place and date"/>
          <p:cNvSpPr txBox="1"/>
          <p:nvPr/>
        </p:nvSpPr>
        <p:spPr>
          <a:xfrm>
            <a:off x="10992860" y="12839810"/>
            <a:ext cx="2398278" cy="577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2800">
                <a:solidFill>
                  <a:srgbClr val="D2D5D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Москва, 2026</a:t>
            </a:r>
          </a:p>
        </p:txBody>
      </p:sp>
      <p:pic>
        <p:nvPicPr>
          <p:cNvPr id="179" name="Рисунок 15" descr="Рисунок 15"/>
          <p:cNvPicPr>
            <a:picLocks noChangeAspect="1"/>
          </p:cNvPicPr>
          <p:nvPr/>
        </p:nvPicPr>
        <p:blipFill>
          <a:blip r:embed="rId2">
            <a:extLst/>
          </a:blip>
          <a:srcRect l="0" t="27377" r="0" b="17497"/>
          <a:stretch>
            <a:fillRect/>
          </a:stretch>
        </p:blipFill>
        <p:spPr>
          <a:xfrm>
            <a:off x="-30660" y="-35632"/>
            <a:ext cx="24414662" cy="6517170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TextBox 7"/>
          <p:cNvSpPr txBox="1"/>
          <p:nvPr/>
        </p:nvSpPr>
        <p:spPr>
          <a:xfrm>
            <a:off x="11074455" y="11411966"/>
            <a:ext cx="2235090" cy="701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3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Фамилия</a:t>
            </a:r>
          </a:p>
        </p:txBody>
      </p:sp>
      <p:sp>
        <p:nvSpPr>
          <p:cNvPr id="181" name="TextBox 9"/>
          <p:cNvSpPr txBox="1"/>
          <p:nvPr/>
        </p:nvSpPr>
        <p:spPr>
          <a:xfrm>
            <a:off x="1831416" y="8562192"/>
            <a:ext cx="20721168" cy="1148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algn="ctr" defTabSz="1828800">
              <a:lnSpc>
                <a:spcPct val="100000"/>
              </a:lnSpc>
              <a:spcBef>
                <a:spcPts val="0"/>
              </a:spcBef>
              <a:defRPr b="1" sz="6600">
                <a:solidFill>
                  <a:srgbClr val="0B2D5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Тема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184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79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TextBox 2"/>
          <p:cNvSpPr txBox="1"/>
          <p:nvPr/>
        </p:nvSpPr>
        <p:spPr>
          <a:xfrm>
            <a:off x="1315172" y="765847"/>
            <a:ext cx="14884422" cy="817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{{header1}}</a:t>
            </a:r>
          </a:p>
        </p:txBody>
      </p:sp>
      <p:sp>
        <p:nvSpPr>
          <p:cNvPr id="186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42159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191" name="rectangles"/>
          <p:cNvGrpSpPr/>
          <p:nvPr/>
        </p:nvGrpSpPr>
        <p:grpSpPr>
          <a:xfrm>
            <a:off x="23959125" y="12730653"/>
            <a:ext cx="94635" cy="478782"/>
            <a:chOff x="-1" y="0"/>
            <a:chExt cx="94634" cy="478780"/>
          </a:xfrm>
        </p:grpSpPr>
        <p:sp>
          <p:nvSpPr>
            <p:cNvPr id="187" name="rectangle"/>
            <p:cNvSpPr/>
            <p:nvPr/>
          </p:nvSpPr>
          <p:spPr>
            <a:xfrm>
              <a:off x="-2" y="-1"/>
              <a:ext cx="94635" cy="91443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88" name="rectangle"/>
            <p:cNvSpPr/>
            <p:nvPr/>
          </p:nvSpPr>
          <p:spPr>
            <a:xfrm>
              <a:off x="-2" y="129111"/>
              <a:ext cx="94635" cy="91447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89" name="rectangle"/>
            <p:cNvSpPr/>
            <p:nvPr/>
          </p:nvSpPr>
          <p:spPr>
            <a:xfrm>
              <a:off x="-2" y="258223"/>
              <a:ext cx="94635" cy="91447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90" name="rectangle"/>
            <p:cNvSpPr/>
            <p:nvPr/>
          </p:nvSpPr>
          <p:spPr>
            <a:xfrm>
              <a:off x="-2" y="387333"/>
              <a:ext cx="94635" cy="91447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192" name="Эпоха: Поздний СССР, системный экономический кризис конца 80-х - начала 90-х.…"/>
          <p:cNvSpPr txBox="1"/>
          <p:nvPr>
            <p:ph type="body" sz="half" idx="4294967295"/>
          </p:nvPr>
        </p:nvSpPr>
        <p:spPr>
          <a:xfrm>
            <a:off x="999066" y="3609068"/>
            <a:ext cx="11113890" cy="7758118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{{text1}}</a:t>
            </a:r>
          </a:p>
        </p:txBody>
      </p:sp>
      <p:grpSp>
        <p:nvGrpSpPr>
          <p:cNvPr id="195" name="{{image1}}"/>
          <p:cNvGrpSpPr/>
          <p:nvPr/>
        </p:nvGrpSpPr>
        <p:grpSpPr>
          <a:xfrm>
            <a:off x="13673258" y="4547084"/>
            <a:ext cx="9468763" cy="5860598"/>
            <a:chOff x="0" y="0"/>
            <a:chExt cx="9468762" cy="5860596"/>
          </a:xfrm>
        </p:grpSpPr>
        <p:sp>
          <p:nvSpPr>
            <p:cNvPr id="193" name="Rectangle"/>
            <p:cNvSpPr/>
            <p:nvPr/>
          </p:nvSpPr>
          <p:spPr>
            <a:xfrm>
              <a:off x="-1" y="0"/>
              <a:ext cx="9468764" cy="586059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194" name="{{image1}}"/>
            <p:cNvSpPr txBox="1"/>
            <p:nvPr/>
          </p:nvSpPr>
          <p:spPr>
            <a:xfrm>
              <a:off x="12699" y="2526082"/>
              <a:ext cx="9443364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{{image1}}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198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79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TextBox 2"/>
          <p:cNvSpPr txBox="1"/>
          <p:nvPr/>
        </p:nvSpPr>
        <p:spPr>
          <a:xfrm>
            <a:off x="1315172" y="765846"/>
            <a:ext cx="14884422" cy="817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{{header2}}</a:t>
            </a:r>
          </a:p>
        </p:txBody>
      </p:sp>
      <p:sp>
        <p:nvSpPr>
          <p:cNvPr id="200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42159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05" name="rectangles"/>
          <p:cNvGrpSpPr/>
          <p:nvPr/>
        </p:nvGrpSpPr>
        <p:grpSpPr>
          <a:xfrm>
            <a:off x="23959125" y="12730653"/>
            <a:ext cx="94635" cy="478782"/>
            <a:chOff x="-1" y="0"/>
            <a:chExt cx="94634" cy="478780"/>
          </a:xfrm>
        </p:grpSpPr>
        <p:sp>
          <p:nvSpPr>
            <p:cNvPr id="201" name="rectangle"/>
            <p:cNvSpPr/>
            <p:nvPr/>
          </p:nvSpPr>
          <p:spPr>
            <a:xfrm>
              <a:off x="-2" y="-1"/>
              <a:ext cx="94635" cy="91443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2" name="rectangle"/>
            <p:cNvSpPr/>
            <p:nvPr/>
          </p:nvSpPr>
          <p:spPr>
            <a:xfrm>
              <a:off x="-2" y="129111"/>
              <a:ext cx="94635" cy="91447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3" name="rectangle"/>
            <p:cNvSpPr/>
            <p:nvPr/>
          </p:nvSpPr>
          <p:spPr>
            <a:xfrm>
              <a:off x="-2" y="258223"/>
              <a:ext cx="94635" cy="91447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4" name="rectangle"/>
            <p:cNvSpPr/>
            <p:nvPr/>
          </p:nvSpPr>
          <p:spPr>
            <a:xfrm>
              <a:off x="-2" y="387333"/>
              <a:ext cx="94635" cy="91447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206" name="Обстановка: Дефицит товаров («пустые полки»), угроза голода в крупных городах, гиперинфляция, развал системы управления после распада СССР.…"/>
          <p:cNvSpPr txBox="1"/>
          <p:nvPr>
            <p:ph type="body" sz="half" idx="4294967295"/>
          </p:nvPr>
        </p:nvSpPr>
        <p:spPr>
          <a:xfrm>
            <a:off x="11476565" y="3515850"/>
            <a:ext cx="12482715" cy="7693423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554480">
              <a:spcBef>
                <a:spcPts val="17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{{text2}}</a:t>
            </a:r>
          </a:p>
        </p:txBody>
      </p:sp>
      <p:grpSp>
        <p:nvGrpSpPr>
          <p:cNvPr id="209" name="{{image2}}"/>
          <p:cNvGrpSpPr/>
          <p:nvPr/>
        </p:nvGrpSpPr>
        <p:grpSpPr>
          <a:xfrm>
            <a:off x="528941" y="4432263"/>
            <a:ext cx="9468764" cy="5860597"/>
            <a:chOff x="0" y="0"/>
            <a:chExt cx="9468762" cy="5860596"/>
          </a:xfrm>
        </p:grpSpPr>
        <p:sp>
          <p:nvSpPr>
            <p:cNvPr id="207" name="Rectangle"/>
            <p:cNvSpPr/>
            <p:nvPr/>
          </p:nvSpPr>
          <p:spPr>
            <a:xfrm>
              <a:off x="-1" y="-1"/>
              <a:ext cx="9468764" cy="58605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208" name="{{image2}}"/>
            <p:cNvSpPr txBox="1"/>
            <p:nvPr/>
          </p:nvSpPr>
          <p:spPr>
            <a:xfrm>
              <a:off x="12699" y="2526082"/>
              <a:ext cx="9443364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{{image2}}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{{image3}}"/>
          <p:cNvGrpSpPr/>
          <p:nvPr/>
        </p:nvGrpSpPr>
        <p:grpSpPr>
          <a:xfrm>
            <a:off x="7457619" y="2505636"/>
            <a:ext cx="9468763" cy="5860598"/>
            <a:chOff x="0" y="0"/>
            <a:chExt cx="9468762" cy="5860596"/>
          </a:xfrm>
        </p:grpSpPr>
        <p:sp>
          <p:nvSpPr>
            <p:cNvPr id="211" name="Rectangle"/>
            <p:cNvSpPr/>
            <p:nvPr/>
          </p:nvSpPr>
          <p:spPr>
            <a:xfrm>
              <a:off x="-1" y="-1"/>
              <a:ext cx="9468764" cy="58605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212" name="{{image3}}"/>
            <p:cNvSpPr txBox="1"/>
            <p:nvPr/>
          </p:nvSpPr>
          <p:spPr>
            <a:xfrm>
              <a:off x="12699" y="2526082"/>
              <a:ext cx="9443364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{{image3}}</a:t>
              </a:r>
            </a:p>
          </p:txBody>
        </p:sp>
      </p:grpSp>
      <p:sp>
        <p:nvSpPr>
          <p:cNvPr id="214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215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79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42159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21" name="rectangles"/>
          <p:cNvGrpSpPr/>
          <p:nvPr/>
        </p:nvGrpSpPr>
        <p:grpSpPr>
          <a:xfrm>
            <a:off x="23959125" y="12730653"/>
            <a:ext cx="94635" cy="478782"/>
            <a:chOff x="-1" y="0"/>
            <a:chExt cx="94634" cy="478780"/>
          </a:xfrm>
        </p:grpSpPr>
        <p:sp>
          <p:nvSpPr>
            <p:cNvPr id="217" name="rectangle"/>
            <p:cNvSpPr/>
            <p:nvPr/>
          </p:nvSpPr>
          <p:spPr>
            <a:xfrm>
              <a:off x="-2" y="-1"/>
              <a:ext cx="94635" cy="91443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18" name="rectangle"/>
            <p:cNvSpPr/>
            <p:nvPr/>
          </p:nvSpPr>
          <p:spPr>
            <a:xfrm>
              <a:off x="-2" y="129111"/>
              <a:ext cx="94635" cy="91447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19" name="rectangle"/>
            <p:cNvSpPr/>
            <p:nvPr/>
          </p:nvSpPr>
          <p:spPr>
            <a:xfrm>
              <a:off x="-2" y="258223"/>
              <a:ext cx="94635" cy="91447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20" name="rectangle"/>
            <p:cNvSpPr/>
            <p:nvPr/>
          </p:nvSpPr>
          <p:spPr>
            <a:xfrm>
              <a:off x="-2" y="387333"/>
              <a:ext cx="94635" cy="91447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222" name="TextBox 2"/>
          <p:cNvSpPr txBox="1"/>
          <p:nvPr/>
        </p:nvSpPr>
        <p:spPr>
          <a:xfrm>
            <a:off x="1315172" y="765847"/>
            <a:ext cx="14884422" cy="817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{{header3}}</a:t>
            </a:r>
          </a:p>
        </p:txBody>
      </p:sp>
      <p:sp>
        <p:nvSpPr>
          <p:cNvPr id="223" name="2 января 1992 г.: Либерализация цен (отмена госконтроля).…"/>
          <p:cNvSpPr txBox="1"/>
          <p:nvPr>
            <p:ph type="body" sz="half" idx="4294967295"/>
          </p:nvPr>
        </p:nvSpPr>
        <p:spPr>
          <a:xfrm>
            <a:off x="2640655" y="8524426"/>
            <a:ext cx="19102690" cy="4491040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{{text3}}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{{image4}}"/>
          <p:cNvGrpSpPr/>
          <p:nvPr/>
        </p:nvGrpSpPr>
        <p:grpSpPr>
          <a:xfrm>
            <a:off x="13673258" y="4547084"/>
            <a:ext cx="9468763" cy="5860598"/>
            <a:chOff x="0" y="0"/>
            <a:chExt cx="9468762" cy="5860596"/>
          </a:xfrm>
        </p:grpSpPr>
        <p:sp>
          <p:nvSpPr>
            <p:cNvPr id="225" name="Rectangle"/>
            <p:cNvSpPr/>
            <p:nvPr/>
          </p:nvSpPr>
          <p:spPr>
            <a:xfrm>
              <a:off x="-1" y="0"/>
              <a:ext cx="9468764" cy="586059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226" name="{{image4}}"/>
            <p:cNvSpPr txBox="1"/>
            <p:nvPr/>
          </p:nvSpPr>
          <p:spPr>
            <a:xfrm>
              <a:off x="12699" y="2526082"/>
              <a:ext cx="9443364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{{image4}}</a:t>
              </a:r>
            </a:p>
          </p:txBody>
        </p:sp>
      </p:grpSp>
      <p:sp>
        <p:nvSpPr>
          <p:cNvPr id="228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229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79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42159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35" name="rectangles"/>
          <p:cNvGrpSpPr/>
          <p:nvPr/>
        </p:nvGrpSpPr>
        <p:grpSpPr>
          <a:xfrm>
            <a:off x="23959125" y="12730653"/>
            <a:ext cx="94635" cy="478782"/>
            <a:chOff x="-1" y="0"/>
            <a:chExt cx="94634" cy="478780"/>
          </a:xfrm>
        </p:grpSpPr>
        <p:sp>
          <p:nvSpPr>
            <p:cNvPr id="231" name="rectangle"/>
            <p:cNvSpPr/>
            <p:nvPr/>
          </p:nvSpPr>
          <p:spPr>
            <a:xfrm>
              <a:off x="-2" y="-1"/>
              <a:ext cx="94635" cy="91443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32" name="rectangle"/>
            <p:cNvSpPr/>
            <p:nvPr/>
          </p:nvSpPr>
          <p:spPr>
            <a:xfrm>
              <a:off x="-2" y="129111"/>
              <a:ext cx="94635" cy="91447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33" name="rectangle"/>
            <p:cNvSpPr/>
            <p:nvPr/>
          </p:nvSpPr>
          <p:spPr>
            <a:xfrm>
              <a:off x="-2" y="258223"/>
              <a:ext cx="94635" cy="91447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34" name="rectangle"/>
            <p:cNvSpPr/>
            <p:nvPr/>
          </p:nvSpPr>
          <p:spPr>
            <a:xfrm>
              <a:off x="-2" y="387333"/>
              <a:ext cx="94635" cy="91447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236" name="TextBox 2"/>
          <p:cNvSpPr txBox="1"/>
          <p:nvPr/>
        </p:nvSpPr>
        <p:spPr>
          <a:xfrm>
            <a:off x="1315172" y="765847"/>
            <a:ext cx="14884422" cy="817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{{header4}}</a:t>
            </a:r>
          </a:p>
        </p:txBody>
      </p:sp>
      <p:sp>
        <p:nvSpPr>
          <p:cNvPr id="237" name="Чтобы сделать возврат к коммунизму невозможным, правительство Гайдара и Чубайса запустило процесс приватизации. Идея заключалась в том, чтобы раздать государственную собственность гражданам через ваучеры. Это должно было создать класс частных собственник"/>
          <p:cNvSpPr txBox="1"/>
          <p:nvPr>
            <p:ph type="body" sz="half" idx="4294967295"/>
          </p:nvPr>
        </p:nvSpPr>
        <p:spPr>
          <a:xfrm>
            <a:off x="986366" y="3609070"/>
            <a:ext cx="11113890" cy="7758115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{{text4}}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240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79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42159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46" name="rectangles"/>
          <p:cNvGrpSpPr/>
          <p:nvPr/>
        </p:nvGrpSpPr>
        <p:grpSpPr>
          <a:xfrm>
            <a:off x="23959125" y="12730653"/>
            <a:ext cx="94635" cy="478782"/>
            <a:chOff x="-1" y="0"/>
            <a:chExt cx="94634" cy="478780"/>
          </a:xfrm>
        </p:grpSpPr>
        <p:sp>
          <p:nvSpPr>
            <p:cNvPr id="242" name="rectangle"/>
            <p:cNvSpPr/>
            <p:nvPr/>
          </p:nvSpPr>
          <p:spPr>
            <a:xfrm>
              <a:off x="-2" y="-1"/>
              <a:ext cx="94635" cy="91443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43" name="rectangle"/>
            <p:cNvSpPr/>
            <p:nvPr/>
          </p:nvSpPr>
          <p:spPr>
            <a:xfrm>
              <a:off x="-2" y="129111"/>
              <a:ext cx="94635" cy="91447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44" name="rectangle"/>
            <p:cNvSpPr/>
            <p:nvPr/>
          </p:nvSpPr>
          <p:spPr>
            <a:xfrm>
              <a:off x="-2" y="258223"/>
              <a:ext cx="94635" cy="91447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45" name="rectangle"/>
            <p:cNvSpPr/>
            <p:nvPr/>
          </p:nvSpPr>
          <p:spPr>
            <a:xfrm>
              <a:off x="-2" y="387333"/>
              <a:ext cx="94635" cy="91447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247" name="TextBox 2"/>
          <p:cNvSpPr txBox="1"/>
          <p:nvPr/>
        </p:nvSpPr>
        <p:spPr>
          <a:xfrm>
            <a:off x="1315172" y="765847"/>
            <a:ext cx="14884422" cy="817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{{header5}}</a:t>
            </a:r>
          </a:p>
        </p:txBody>
      </p:sp>
      <p:sp>
        <p:nvSpPr>
          <p:cNvPr id="248" name="Стиль: Технократизм, отсутствие популизма, сухой научный язык.…"/>
          <p:cNvSpPr txBox="1"/>
          <p:nvPr>
            <p:ph type="body" sz="half" idx="4294967295"/>
          </p:nvPr>
        </p:nvSpPr>
        <p:spPr>
          <a:xfrm>
            <a:off x="11476566" y="3515850"/>
            <a:ext cx="12482714" cy="7693423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{{text5}}</a:t>
            </a:r>
          </a:p>
        </p:txBody>
      </p:sp>
      <p:grpSp>
        <p:nvGrpSpPr>
          <p:cNvPr id="251" name="{{image5}}"/>
          <p:cNvGrpSpPr/>
          <p:nvPr/>
        </p:nvGrpSpPr>
        <p:grpSpPr>
          <a:xfrm>
            <a:off x="528941" y="4432263"/>
            <a:ext cx="9468764" cy="5860597"/>
            <a:chOff x="0" y="0"/>
            <a:chExt cx="9468762" cy="5860596"/>
          </a:xfrm>
        </p:grpSpPr>
        <p:sp>
          <p:nvSpPr>
            <p:cNvPr id="249" name="Rectangle"/>
            <p:cNvSpPr/>
            <p:nvPr/>
          </p:nvSpPr>
          <p:spPr>
            <a:xfrm>
              <a:off x="-1" y="-1"/>
              <a:ext cx="9468764" cy="58605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250" name="{{image5}}"/>
            <p:cNvSpPr txBox="1"/>
            <p:nvPr/>
          </p:nvSpPr>
          <p:spPr>
            <a:xfrm>
              <a:off x="12699" y="2526082"/>
              <a:ext cx="9443364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{{image5}}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254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79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42159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60" name="rectangles"/>
          <p:cNvGrpSpPr/>
          <p:nvPr/>
        </p:nvGrpSpPr>
        <p:grpSpPr>
          <a:xfrm>
            <a:off x="23959125" y="12730653"/>
            <a:ext cx="94635" cy="478782"/>
            <a:chOff x="-1" y="0"/>
            <a:chExt cx="94634" cy="478780"/>
          </a:xfrm>
        </p:grpSpPr>
        <p:sp>
          <p:nvSpPr>
            <p:cNvPr id="256" name="rectangle"/>
            <p:cNvSpPr/>
            <p:nvPr/>
          </p:nvSpPr>
          <p:spPr>
            <a:xfrm>
              <a:off x="-2" y="-1"/>
              <a:ext cx="94635" cy="91443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57" name="rectangle"/>
            <p:cNvSpPr/>
            <p:nvPr/>
          </p:nvSpPr>
          <p:spPr>
            <a:xfrm>
              <a:off x="-2" y="129111"/>
              <a:ext cx="94635" cy="91447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58" name="rectangle"/>
            <p:cNvSpPr/>
            <p:nvPr/>
          </p:nvSpPr>
          <p:spPr>
            <a:xfrm>
              <a:off x="-2" y="258223"/>
              <a:ext cx="94635" cy="91447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59" name="rectangle"/>
            <p:cNvSpPr/>
            <p:nvPr/>
          </p:nvSpPr>
          <p:spPr>
            <a:xfrm>
              <a:off x="-2" y="387333"/>
              <a:ext cx="94635" cy="91447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261" name="TextBox 2"/>
          <p:cNvSpPr txBox="1"/>
          <p:nvPr/>
        </p:nvSpPr>
        <p:spPr>
          <a:xfrm>
            <a:off x="1315172" y="765847"/>
            <a:ext cx="14884422" cy="817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{{header6}}</a:t>
            </a:r>
          </a:p>
        </p:txBody>
      </p:sp>
      <p:sp>
        <p:nvSpPr>
          <p:cNvPr id="262" name="Григорий Явлинский: Предлагал более долгий и мягкий путь («500 дней»).…"/>
          <p:cNvSpPr txBox="1"/>
          <p:nvPr>
            <p:ph type="body" sz="half" idx="4294967295"/>
          </p:nvPr>
        </p:nvSpPr>
        <p:spPr>
          <a:xfrm>
            <a:off x="986366" y="3609070"/>
            <a:ext cx="11113890" cy="7758115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{{text6}}</a:t>
            </a:r>
          </a:p>
        </p:txBody>
      </p:sp>
      <p:grpSp>
        <p:nvGrpSpPr>
          <p:cNvPr id="265" name="{{image6}}"/>
          <p:cNvGrpSpPr/>
          <p:nvPr/>
        </p:nvGrpSpPr>
        <p:grpSpPr>
          <a:xfrm>
            <a:off x="13673258" y="4547084"/>
            <a:ext cx="9468763" cy="5860598"/>
            <a:chOff x="0" y="0"/>
            <a:chExt cx="9468762" cy="5860596"/>
          </a:xfrm>
        </p:grpSpPr>
        <p:sp>
          <p:nvSpPr>
            <p:cNvPr id="263" name="Rectangle"/>
            <p:cNvSpPr/>
            <p:nvPr/>
          </p:nvSpPr>
          <p:spPr>
            <a:xfrm>
              <a:off x="-1" y="0"/>
              <a:ext cx="9468764" cy="586059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264" name="{{image6}}"/>
            <p:cNvSpPr txBox="1"/>
            <p:nvPr/>
          </p:nvSpPr>
          <p:spPr>
            <a:xfrm>
              <a:off x="12699" y="2526082"/>
              <a:ext cx="9443364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{{image6}}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268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79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42159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74" name="rectangles"/>
          <p:cNvGrpSpPr/>
          <p:nvPr/>
        </p:nvGrpSpPr>
        <p:grpSpPr>
          <a:xfrm>
            <a:off x="23959125" y="12730653"/>
            <a:ext cx="94635" cy="478782"/>
            <a:chOff x="-1" y="0"/>
            <a:chExt cx="94634" cy="478780"/>
          </a:xfrm>
        </p:grpSpPr>
        <p:sp>
          <p:nvSpPr>
            <p:cNvPr id="270" name="rectangle"/>
            <p:cNvSpPr/>
            <p:nvPr/>
          </p:nvSpPr>
          <p:spPr>
            <a:xfrm>
              <a:off x="-2" y="-1"/>
              <a:ext cx="94635" cy="91443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71" name="rectangle"/>
            <p:cNvSpPr/>
            <p:nvPr/>
          </p:nvSpPr>
          <p:spPr>
            <a:xfrm>
              <a:off x="-2" y="129111"/>
              <a:ext cx="94635" cy="91447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72" name="rectangle"/>
            <p:cNvSpPr/>
            <p:nvPr/>
          </p:nvSpPr>
          <p:spPr>
            <a:xfrm>
              <a:off x="-2" y="258223"/>
              <a:ext cx="94635" cy="91447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73" name="rectangle"/>
            <p:cNvSpPr/>
            <p:nvPr/>
          </p:nvSpPr>
          <p:spPr>
            <a:xfrm>
              <a:off x="-2" y="387333"/>
              <a:ext cx="94635" cy="91447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275" name="TextBox 2"/>
          <p:cNvSpPr txBox="1"/>
          <p:nvPr/>
        </p:nvSpPr>
        <p:spPr>
          <a:xfrm>
            <a:off x="1315172" y="765847"/>
            <a:ext cx="14884422" cy="817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{{header7}}</a:t>
            </a:r>
          </a:p>
        </p:txBody>
      </p:sp>
      <p:sp>
        <p:nvSpPr>
          <p:cNvPr id="276" name="Результаты реформ Гайдара невозможно оценить однозначно. С одной стороны, за несколько месяцев исчез дефицит, и в стране заработал рынок. С другой - гиперинфляция мгновенно уничтожила многолетние сбережения граждан, а промышленное производство упало. «Шо"/>
          <p:cNvSpPr txBox="1"/>
          <p:nvPr>
            <p:ph type="body" sz="half" idx="4294967295"/>
          </p:nvPr>
        </p:nvSpPr>
        <p:spPr>
          <a:xfrm>
            <a:off x="11476566" y="3515850"/>
            <a:ext cx="12482714" cy="7693423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{{text7}}</a:t>
            </a:r>
          </a:p>
        </p:txBody>
      </p:sp>
      <p:grpSp>
        <p:nvGrpSpPr>
          <p:cNvPr id="279" name="{{image7}}"/>
          <p:cNvGrpSpPr/>
          <p:nvPr/>
        </p:nvGrpSpPr>
        <p:grpSpPr>
          <a:xfrm>
            <a:off x="528941" y="4432263"/>
            <a:ext cx="9468764" cy="5860597"/>
            <a:chOff x="0" y="0"/>
            <a:chExt cx="9468762" cy="5860596"/>
          </a:xfrm>
        </p:grpSpPr>
        <p:sp>
          <p:nvSpPr>
            <p:cNvPr id="277" name="Rectangle"/>
            <p:cNvSpPr/>
            <p:nvPr/>
          </p:nvSpPr>
          <p:spPr>
            <a:xfrm>
              <a:off x="-1" y="-1"/>
              <a:ext cx="9468764" cy="58605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278" name="{{image7}}"/>
            <p:cNvSpPr txBox="1"/>
            <p:nvPr/>
          </p:nvSpPr>
          <p:spPr>
            <a:xfrm>
              <a:off x="12699" y="2526082"/>
              <a:ext cx="9443364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{{image7}}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{{image8}}"/>
          <p:cNvGrpSpPr/>
          <p:nvPr/>
        </p:nvGrpSpPr>
        <p:grpSpPr>
          <a:xfrm>
            <a:off x="7457619" y="7567638"/>
            <a:ext cx="9468763" cy="5860597"/>
            <a:chOff x="0" y="0"/>
            <a:chExt cx="9468762" cy="5860596"/>
          </a:xfrm>
        </p:grpSpPr>
        <p:sp>
          <p:nvSpPr>
            <p:cNvPr id="281" name="Rectangle"/>
            <p:cNvSpPr/>
            <p:nvPr/>
          </p:nvSpPr>
          <p:spPr>
            <a:xfrm>
              <a:off x="-1" y="-1"/>
              <a:ext cx="9468764" cy="5860598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282" name="{{image8}}"/>
            <p:cNvSpPr txBox="1"/>
            <p:nvPr/>
          </p:nvSpPr>
          <p:spPr>
            <a:xfrm>
              <a:off x="12699" y="2526082"/>
              <a:ext cx="9443364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{{image8}}</a:t>
              </a:r>
            </a:p>
          </p:txBody>
        </p:sp>
      </p:grpSp>
      <p:sp>
        <p:nvSpPr>
          <p:cNvPr id="284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285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79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286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42159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91" name="rectangles"/>
          <p:cNvGrpSpPr/>
          <p:nvPr/>
        </p:nvGrpSpPr>
        <p:grpSpPr>
          <a:xfrm>
            <a:off x="23959125" y="12730653"/>
            <a:ext cx="94635" cy="478782"/>
            <a:chOff x="-1" y="0"/>
            <a:chExt cx="94634" cy="478780"/>
          </a:xfrm>
        </p:grpSpPr>
        <p:sp>
          <p:nvSpPr>
            <p:cNvPr id="287" name="rectangle"/>
            <p:cNvSpPr/>
            <p:nvPr/>
          </p:nvSpPr>
          <p:spPr>
            <a:xfrm>
              <a:off x="-2" y="-1"/>
              <a:ext cx="94635" cy="91443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88" name="rectangle"/>
            <p:cNvSpPr/>
            <p:nvPr/>
          </p:nvSpPr>
          <p:spPr>
            <a:xfrm>
              <a:off x="-2" y="129111"/>
              <a:ext cx="94635" cy="91447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89" name="rectangle"/>
            <p:cNvSpPr/>
            <p:nvPr/>
          </p:nvSpPr>
          <p:spPr>
            <a:xfrm>
              <a:off x="-2" y="258223"/>
              <a:ext cx="94635" cy="91447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90" name="rectangle"/>
            <p:cNvSpPr/>
            <p:nvPr/>
          </p:nvSpPr>
          <p:spPr>
            <a:xfrm>
              <a:off x="-2" y="387333"/>
              <a:ext cx="94635" cy="91447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292" name="Для сторонников либерализма Гайдар остается интеллектуальным лидером и спасителем страны от гражданской войны. Для критиков - виновником «развала союза» и нищеты миллионов. Ученые-экономисты до сих пор спорят: был ли у России в 1992 году другой, более гу"/>
          <p:cNvSpPr txBox="1"/>
          <p:nvPr>
            <p:ph type="body" sz="half" idx="4294967295"/>
          </p:nvPr>
        </p:nvSpPr>
        <p:spPr>
          <a:xfrm>
            <a:off x="2640655" y="2689554"/>
            <a:ext cx="19102690" cy="4491040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{{text8}}</a:t>
            </a:r>
          </a:p>
        </p:txBody>
      </p:sp>
      <p:sp>
        <p:nvSpPr>
          <p:cNvPr id="293" name="TextBox 2"/>
          <p:cNvSpPr txBox="1"/>
          <p:nvPr/>
        </p:nvSpPr>
        <p:spPr>
          <a:xfrm>
            <a:off x="1315172" y="765847"/>
            <a:ext cx="14884422" cy="817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{{header8}}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296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79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297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647613" cy="6394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302" name="rectangles"/>
          <p:cNvGrpSpPr/>
          <p:nvPr/>
        </p:nvGrpSpPr>
        <p:grpSpPr>
          <a:xfrm>
            <a:off x="23959125" y="12730653"/>
            <a:ext cx="94635" cy="478782"/>
            <a:chOff x="-1" y="0"/>
            <a:chExt cx="94634" cy="478780"/>
          </a:xfrm>
        </p:grpSpPr>
        <p:sp>
          <p:nvSpPr>
            <p:cNvPr id="298" name="rectangle"/>
            <p:cNvSpPr/>
            <p:nvPr/>
          </p:nvSpPr>
          <p:spPr>
            <a:xfrm>
              <a:off x="-2" y="-1"/>
              <a:ext cx="94635" cy="91443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99" name="rectangle"/>
            <p:cNvSpPr/>
            <p:nvPr/>
          </p:nvSpPr>
          <p:spPr>
            <a:xfrm>
              <a:off x="-2" y="129111"/>
              <a:ext cx="94635" cy="91447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00" name="rectangle"/>
            <p:cNvSpPr/>
            <p:nvPr/>
          </p:nvSpPr>
          <p:spPr>
            <a:xfrm>
              <a:off x="-2" y="258223"/>
              <a:ext cx="94635" cy="91447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01" name="rectangle"/>
            <p:cNvSpPr/>
            <p:nvPr/>
          </p:nvSpPr>
          <p:spPr>
            <a:xfrm>
              <a:off x="-2" y="387333"/>
              <a:ext cx="94635" cy="91447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303" name="TextBox 2"/>
          <p:cNvSpPr txBox="1"/>
          <p:nvPr/>
        </p:nvSpPr>
        <p:spPr>
          <a:xfrm>
            <a:off x="1315172" y="765847"/>
            <a:ext cx="14884422" cy="817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{{header9}}</a:t>
            </a:r>
          </a:p>
        </p:txBody>
      </p:sp>
      <p:sp>
        <p:nvSpPr>
          <p:cNvPr id="304" name="Институты: Создание налоговой, банковской и таможенной систем РФ.…"/>
          <p:cNvSpPr txBox="1"/>
          <p:nvPr>
            <p:ph type="body" sz="half" idx="4294967295"/>
          </p:nvPr>
        </p:nvSpPr>
        <p:spPr>
          <a:xfrm>
            <a:off x="986366" y="3609070"/>
            <a:ext cx="11113890" cy="7758115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828800">
              <a:spcBef>
                <a:spcPts val="20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{{text9}}</a:t>
            </a:r>
          </a:p>
        </p:txBody>
      </p:sp>
      <p:grpSp>
        <p:nvGrpSpPr>
          <p:cNvPr id="307" name="{{image9}}"/>
          <p:cNvGrpSpPr/>
          <p:nvPr/>
        </p:nvGrpSpPr>
        <p:grpSpPr>
          <a:xfrm>
            <a:off x="13673258" y="4547084"/>
            <a:ext cx="9468763" cy="5860598"/>
            <a:chOff x="0" y="0"/>
            <a:chExt cx="9468762" cy="5860596"/>
          </a:xfrm>
        </p:grpSpPr>
        <p:sp>
          <p:nvSpPr>
            <p:cNvPr id="305" name="Rectangle"/>
            <p:cNvSpPr/>
            <p:nvPr/>
          </p:nvSpPr>
          <p:spPr>
            <a:xfrm>
              <a:off x="-1" y="0"/>
              <a:ext cx="9468764" cy="586059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306" name="{{image9}}"/>
            <p:cNvSpPr txBox="1"/>
            <p:nvPr/>
          </p:nvSpPr>
          <p:spPr>
            <a:xfrm>
              <a:off x="12699" y="2526082"/>
              <a:ext cx="9443364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{{image9}}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{{image10}}"/>
          <p:cNvGrpSpPr/>
          <p:nvPr/>
        </p:nvGrpSpPr>
        <p:grpSpPr>
          <a:xfrm>
            <a:off x="528941" y="4432263"/>
            <a:ext cx="9468764" cy="5860598"/>
            <a:chOff x="0" y="0"/>
            <a:chExt cx="9468762" cy="5860596"/>
          </a:xfrm>
        </p:grpSpPr>
        <p:sp>
          <p:nvSpPr>
            <p:cNvPr id="309" name="Rectangle"/>
            <p:cNvSpPr/>
            <p:nvPr/>
          </p:nvSpPr>
          <p:spPr>
            <a:xfrm>
              <a:off x="-1" y="0"/>
              <a:ext cx="9468764" cy="5860597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Helvetica Neue"/>
                </a:defRPr>
              </a:pPr>
            </a:p>
          </p:txBody>
        </p:sp>
        <p:sp>
          <p:nvSpPr>
            <p:cNvPr id="310" name="{{image10}}"/>
            <p:cNvSpPr txBox="1"/>
            <p:nvPr/>
          </p:nvSpPr>
          <p:spPr>
            <a:xfrm>
              <a:off x="12699" y="2526082"/>
              <a:ext cx="9443364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Helvetica Neue"/>
                </a:defRPr>
              </a:lvl1pPr>
            </a:lstStyle>
            <a:p>
              <a:pPr/>
              <a:r>
                <a:t>{{image10}}</a:t>
              </a:r>
            </a:p>
          </p:txBody>
        </p:sp>
      </p:grpSp>
      <p:sp>
        <p:nvSpPr>
          <p:cNvPr id="312" name="substrate"/>
          <p:cNvSpPr/>
          <p:nvPr/>
        </p:nvSpPr>
        <p:spPr>
          <a:xfrm>
            <a:off x="0" y="-1784"/>
            <a:ext cx="24384000" cy="2327738"/>
          </a:xfrm>
          <a:prstGeom prst="rect">
            <a:avLst/>
          </a:prstGeom>
          <a:solidFill>
            <a:srgbClr val="ECEDF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313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696330" y="0"/>
            <a:ext cx="3687679" cy="2074822"/>
          </a:xfrm>
          <a:prstGeom prst="rect">
            <a:avLst/>
          </a:prstGeom>
          <a:ln w="12700">
            <a:miter lim="400000"/>
          </a:ln>
        </p:spPr>
      </p:pic>
      <p:sp>
        <p:nvSpPr>
          <p:cNvPr id="314" name="TextBox 2"/>
          <p:cNvSpPr txBox="1"/>
          <p:nvPr/>
        </p:nvSpPr>
        <p:spPr>
          <a:xfrm>
            <a:off x="1315172" y="765847"/>
            <a:ext cx="14884422" cy="817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{{header10}}</a:t>
            </a:r>
          </a:p>
        </p:txBody>
      </p:sp>
      <p:sp>
        <p:nvSpPr>
          <p:cNvPr id="315" name="page number"/>
          <p:cNvSpPr txBox="1"/>
          <p:nvPr>
            <p:ph type="sldNum" sz="quarter" idx="4294967295"/>
          </p:nvPr>
        </p:nvSpPr>
        <p:spPr>
          <a:xfrm>
            <a:off x="23139440" y="12650299"/>
            <a:ext cx="617451" cy="6394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/>
          <a:lstStyle>
            <a:lvl1pPr algn="l" defTabSz="1828800">
              <a:defRPr sz="3200">
                <a:solidFill>
                  <a:srgbClr val="0A2C5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320" name="rectangles"/>
          <p:cNvGrpSpPr/>
          <p:nvPr/>
        </p:nvGrpSpPr>
        <p:grpSpPr>
          <a:xfrm>
            <a:off x="23959125" y="12730653"/>
            <a:ext cx="94635" cy="478782"/>
            <a:chOff x="-1" y="0"/>
            <a:chExt cx="94634" cy="478780"/>
          </a:xfrm>
        </p:grpSpPr>
        <p:sp>
          <p:nvSpPr>
            <p:cNvPr id="316" name="rectangle"/>
            <p:cNvSpPr/>
            <p:nvPr/>
          </p:nvSpPr>
          <p:spPr>
            <a:xfrm>
              <a:off x="-2" y="-1"/>
              <a:ext cx="94635" cy="91443"/>
            </a:xfrm>
            <a:prstGeom prst="rect">
              <a:avLst/>
            </a:prstGeom>
            <a:solidFill>
              <a:srgbClr val="AB1F0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17" name="rectangle"/>
            <p:cNvSpPr/>
            <p:nvPr/>
          </p:nvSpPr>
          <p:spPr>
            <a:xfrm>
              <a:off x="-2" y="129111"/>
              <a:ext cx="94635" cy="91447"/>
            </a:xfrm>
            <a:prstGeom prst="rect">
              <a:avLst/>
            </a:prstGeom>
            <a:solidFill>
              <a:srgbClr val="86BA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18" name="rectangle"/>
            <p:cNvSpPr/>
            <p:nvPr/>
          </p:nvSpPr>
          <p:spPr>
            <a:xfrm>
              <a:off x="-2" y="258223"/>
              <a:ext cx="94635" cy="91447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19" name="rectangle"/>
            <p:cNvSpPr/>
            <p:nvPr/>
          </p:nvSpPr>
          <p:spPr>
            <a:xfrm>
              <a:off x="-2" y="387333"/>
              <a:ext cx="94635" cy="91447"/>
            </a:xfrm>
            <a:prstGeom prst="rect">
              <a:avLst/>
            </a:prstGeom>
            <a:solidFill>
              <a:srgbClr val="1864B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321" name="Обстановка: Дефицит товаров («пустые полки»), угроза голода в крупных городах, гиперинфляция, развал системы управления после распада СССР.…"/>
          <p:cNvSpPr txBox="1"/>
          <p:nvPr>
            <p:ph type="body" sz="half" idx="4294967295"/>
          </p:nvPr>
        </p:nvSpPr>
        <p:spPr>
          <a:xfrm>
            <a:off x="11476566" y="3515850"/>
            <a:ext cx="12482714" cy="7693423"/>
          </a:xfrm>
          <a:prstGeom prst="rect">
            <a:avLst/>
          </a:prstGeom>
        </p:spPr>
        <p:txBody>
          <a:bodyPr lIns="91436" tIns="91436" rIns="91436" bIns="91436" numCol="1" spcCol="38100"/>
          <a:lstStyle>
            <a:lvl1pPr marL="0" indent="0" defTabSz="1554480">
              <a:spcBef>
                <a:spcPts val="1700"/>
              </a:spcBef>
              <a:buSzTx/>
              <a:buNone/>
              <a:defRPr sz="4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{{text10}}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rectangles"/>
          <p:cNvGrpSpPr/>
          <p:nvPr/>
        </p:nvGrpSpPr>
        <p:grpSpPr>
          <a:xfrm>
            <a:off x="-15" y="10748862"/>
            <a:ext cx="24384022" cy="378962"/>
            <a:chOff x="-1" y="-1"/>
            <a:chExt cx="24384021" cy="378961"/>
          </a:xfrm>
        </p:grpSpPr>
        <p:sp>
          <p:nvSpPr>
            <p:cNvPr id="323" name="Rectangle 1"/>
            <p:cNvSpPr/>
            <p:nvPr/>
          </p:nvSpPr>
          <p:spPr>
            <a:xfrm>
              <a:off x="-2" y="-2"/>
              <a:ext cx="6096009" cy="378962"/>
            </a:xfrm>
            <a:prstGeom prst="rect">
              <a:avLst/>
            </a:prstGeom>
            <a:solidFill>
              <a:srgbClr val="ABCEF4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24" name="Rectangle 2"/>
            <p:cNvSpPr/>
            <p:nvPr/>
          </p:nvSpPr>
          <p:spPr>
            <a:xfrm>
              <a:off x="6096008" y="-2"/>
              <a:ext cx="6096003" cy="378962"/>
            </a:xfrm>
            <a:prstGeom prst="rect">
              <a:avLst/>
            </a:prstGeom>
            <a:solidFill>
              <a:srgbClr val="4F9BE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25" name="Rectangle 3"/>
            <p:cNvSpPr/>
            <p:nvPr/>
          </p:nvSpPr>
          <p:spPr>
            <a:xfrm>
              <a:off x="12192009" y="-2"/>
              <a:ext cx="6096007" cy="378962"/>
            </a:xfrm>
            <a:prstGeom prst="rect">
              <a:avLst/>
            </a:prstGeom>
            <a:solidFill>
              <a:srgbClr val="124D8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26" name="Rectangle 4"/>
            <p:cNvSpPr/>
            <p:nvPr/>
          </p:nvSpPr>
          <p:spPr>
            <a:xfrm>
              <a:off x="18288013" y="-2"/>
              <a:ext cx="6096007" cy="378962"/>
            </a:xfrm>
            <a:prstGeom prst="rect">
              <a:avLst/>
            </a:prstGeom>
            <a:solidFill>
              <a:srgbClr val="0B2D5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sp>
        <p:nvSpPr>
          <p:cNvPr id="328" name="main title"/>
          <p:cNvSpPr txBox="1"/>
          <p:nvPr/>
        </p:nvSpPr>
        <p:spPr>
          <a:xfrm>
            <a:off x="8350952" y="11618568"/>
            <a:ext cx="7612373" cy="1122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sz="6400">
                <a:solidFill>
                  <a:srgbClr val="0B2D5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r>
              <a:t>Спасибо за внимание!</a:t>
            </a:r>
          </a:p>
        </p:txBody>
      </p:sp>
      <p:pic>
        <p:nvPicPr>
          <p:cNvPr id="329" name="Рисунок 2" descr="Рисунок 2"/>
          <p:cNvPicPr>
            <a:picLocks noChangeAspect="1"/>
          </p:cNvPicPr>
          <p:nvPr/>
        </p:nvPicPr>
        <p:blipFill>
          <a:blip r:embed="rId2">
            <a:extLst/>
          </a:blip>
          <a:srcRect l="0" t="9287" r="0" b="0"/>
          <a:stretch>
            <a:fillRect/>
          </a:stretch>
        </p:blipFill>
        <p:spPr>
          <a:xfrm>
            <a:off x="0" y="0"/>
            <a:ext cx="24384000" cy="107111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