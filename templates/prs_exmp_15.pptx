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2" y="10675453"/>
            <a:ext cx="20200057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3"/>
          </a:xfrm>
          <a:prstGeom prst="rect">
            <a:avLst/>
          </a:prstGeom>
        </p:spPr>
        <p:txBody>
          <a:bodyPr numCol="1" spcCol="38100"/>
          <a:lstStyle>
            <a:lvl1pPr marL="131850" indent="37172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rectangles"/>
          <p:cNvGrpSpPr/>
          <p:nvPr/>
        </p:nvGrpSpPr>
        <p:grpSpPr>
          <a:xfrm>
            <a:off x="-20" y="6481528"/>
            <a:ext cx="24384026" cy="378964"/>
            <a:chOff x="-1" y="0"/>
            <a:chExt cx="24384024" cy="378962"/>
          </a:xfrm>
        </p:grpSpPr>
        <p:sp>
          <p:nvSpPr>
            <p:cNvPr id="171" name="Rectangle 1"/>
            <p:cNvSpPr/>
            <p:nvPr/>
          </p:nvSpPr>
          <p:spPr>
            <a:xfrm>
              <a:off x="-2" y="-1"/>
              <a:ext cx="6096009" cy="378963"/>
            </a:xfrm>
            <a:prstGeom prst="rect">
              <a:avLst/>
            </a:prstGeom>
            <a:solidFill>
              <a:srgbClr val="ABCEF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2" name="Rectangle 2"/>
            <p:cNvSpPr/>
            <p:nvPr/>
          </p:nvSpPr>
          <p:spPr>
            <a:xfrm>
              <a:off x="6096008" y="-1"/>
              <a:ext cx="6096004" cy="378963"/>
            </a:xfrm>
            <a:prstGeom prst="rect">
              <a:avLst/>
            </a:prstGeom>
            <a:solidFill>
              <a:srgbClr val="4F9BE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3" name="Rectangle 3"/>
            <p:cNvSpPr/>
            <p:nvPr/>
          </p:nvSpPr>
          <p:spPr>
            <a:xfrm>
              <a:off x="12192010" y="-1"/>
              <a:ext cx="6096008" cy="378963"/>
            </a:xfrm>
            <a:prstGeom prst="rect">
              <a:avLst/>
            </a:prstGeom>
            <a:solidFill>
              <a:srgbClr val="124D8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4" name="Rectangle 4"/>
            <p:cNvSpPr/>
            <p:nvPr/>
          </p:nvSpPr>
          <p:spPr>
            <a:xfrm>
              <a:off x="18288015" y="-1"/>
              <a:ext cx="6096008" cy="378963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176" name="substrate"/>
          <p:cNvSpPr/>
          <p:nvPr/>
        </p:nvSpPr>
        <p:spPr>
          <a:xfrm>
            <a:off x="-5" y="11262104"/>
            <a:ext cx="24384008" cy="1591066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77" name="author info"/>
          <p:cNvSpPr txBox="1"/>
          <p:nvPr/>
        </p:nvSpPr>
        <p:spPr>
          <a:xfrm>
            <a:off x="7245877" y="12061558"/>
            <a:ext cx="9892246" cy="503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7275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Группа</a:t>
            </a:r>
          </a:p>
        </p:txBody>
      </p:sp>
      <p:sp>
        <p:nvSpPr>
          <p:cNvPr id="178" name="place and date"/>
          <p:cNvSpPr txBox="1"/>
          <p:nvPr/>
        </p:nvSpPr>
        <p:spPr>
          <a:xfrm>
            <a:off x="10992860" y="12839810"/>
            <a:ext cx="2398278" cy="577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D2D5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Москва, 2026</a:t>
            </a:r>
          </a:p>
        </p:txBody>
      </p:sp>
      <p:pic>
        <p:nvPicPr>
          <p:cNvPr id="179" name="Рисунок 15" descr="Рисунок 15"/>
          <p:cNvPicPr>
            <a:picLocks noChangeAspect="1"/>
          </p:cNvPicPr>
          <p:nvPr/>
        </p:nvPicPr>
        <p:blipFill>
          <a:blip r:embed="rId2">
            <a:extLst/>
          </a:blip>
          <a:srcRect l="0" t="27377" r="0" b="17497"/>
          <a:stretch>
            <a:fillRect/>
          </a:stretch>
        </p:blipFill>
        <p:spPr>
          <a:xfrm>
            <a:off x="-30660" y="-35632"/>
            <a:ext cx="24414662" cy="651717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7"/>
          <p:cNvSpPr txBox="1"/>
          <p:nvPr/>
        </p:nvSpPr>
        <p:spPr>
          <a:xfrm>
            <a:off x="11074455" y="11411966"/>
            <a:ext cx="2235090" cy="701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3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Фамилия</a:t>
            </a:r>
          </a:p>
        </p:txBody>
      </p:sp>
      <p:sp>
        <p:nvSpPr>
          <p:cNvPr id="181" name="TextBox 9"/>
          <p:cNvSpPr txBox="1"/>
          <p:nvPr/>
        </p:nvSpPr>
        <p:spPr>
          <a:xfrm>
            <a:off x="1831416" y="8562192"/>
            <a:ext cx="20721168" cy="11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b="1" sz="6600">
                <a:solidFill>
                  <a:srgbClr val="0B2D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Тема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184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{{header1}}</a:t>
            </a:r>
          </a:p>
        </p:txBody>
      </p:sp>
      <p:sp>
        <p:nvSpPr>
          <p:cNvPr id="186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91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187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8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9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0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192" name="Эпоха: Поздний СССР, системный экономический кризис конца 80-х - начала 90-х.…"/>
          <p:cNvSpPr txBox="1"/>
          <p:nvPr>
            <p:ph type="body" sz="half" idx="4294967295"/>
          </p:nvPr>
        </p:nvSpPr>
        <p:spPr>
          <a:xfrm>
            <a:off x="999066" y="3609068"/>
            <a:ext cx="11113890" cy="7758119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{{text1}}</a:t>
            </a:r>
          </a:p>
        </p:txBody>
      </p:sp>
      <p:grpSp>
        <p:nvGrpSpPr>
          <p:cNvPr id="195" name="{{image1}}"/>
          <p:cNvGrpSpPr/>
          <p:nvPr/>
        </p:nvGrpSpPr>
        <p:grpSpPr>
          <a:xfrm>
            <a:off x="13673258" y="4547084"/>
            <a:ext cx="9468765" cy="5860599"/>
            <a:chOff x="0" y="0"/>
            <a:chExt cx="9468763" cy="5860598"/>
          </a:xfrm>
        </p:grpSpPr>
        <p:sp>
          <p:nvSpPr>
            <p:cNvPr id="193" name="Rectangle"/>
            <p:cNvSpPr/>
            <p:nvPr/>
          </p:nvSpPr>
          <p:spPr>
            <a:xfrm>
              <a:off x="-1" y="0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194" name="{{image1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198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Box 2"/>
          <p:cNvSpPr txBox="1"/>
          <p:nvPr/>
        </p:nvSpPr>
        <p:spPr>
          <a:xfrm>
            <a:off x="1315172" y="765845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{{header2}}</a:t>
            </a:r>
          </a:p>
        </p:txBody>
      </p:sp>
      <p:sp>
        <p:nvSpPr>
          <p:cNvPr id="200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05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01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2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3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4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06" name="Обстановка: Дефицит товаров («пустые полки»), угроза голода в крупных городах, гиперинфляция, развал системы управления после распада СССР.…"/>
          <p:cNvSpPr txBox="1"/>
          <p:nvPr>
            <p:ph type="body" sz="half" idx="4294967295"/>
          </p:nvPr>
        </p:nvSpPr>
        <p:spPr>
          <a:xfrm>
            <a:off x="11476565" y="3515850"/>
            <a:ext cx="12482716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554480">
              <a:spcBef>
                <a:spcPts val="17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{{text2}}</a:t>
            </a:r>
          </a:p>
        </p:txBody>
      </p:sp>
      <p:grpSp>
        <p:nvGrpSpPr>
          <p:cNvPr id="209" name="{{image2}}"/>
          <p:cNvGrpSpPr/>
          <p:nvPr/>
        </p:nvGrpSpPr>
        <p:grpSpPr>
          <a:xfrm>
            <a:off x="528939" y="4432262"/>
            <a:ext cx="9468767" cy="5860599"/>
            <a:chOff x="-1" y="0"/>
            <a:chExt cx="9468766" cy="5860598"/>
          </a:xfrm>
        </p:grpSpPr>
        <p:sp>
          <p:nvSpPr>
            <p:cNvPr id="207" name="Rectangle"/>
            <p:cNvSpPr/>
            <p:nvPr/>
          </p:nvSpPr>
          <p:spPr>
            <a:xfrm>
              <a:off x="-2" y="-1"/>
              <a:ext cx="9468767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08" name="{{image2}}"/>
            <p:cNvSpPr txBox="1"/>
            <p:nvPr/>
          </p:nvSpPr>
          <p:spPr>
            <a:xfrm>
              <a:off x="12698" y="2526082"/>
              <a:ext cx="944336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{{image2}}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{{image3}}"/>
          <p:cNvGrpSpPr/>
          <p:nvPr/>
        </p:nvGrpSpPr>
        <p:grpSpPr>
          <a:xfrm>
            <a:off x="7457618" y="2505634"/>
            <a:ext cx="9468765" cy="5860601"/>
            <a:chOff x="0" y="-1"/>
            <a:chExt cx="9468763" cy="5860600"/>
          </a:xfrm>
        </p:grpSpPr>
        <p:sp>
          <p:nvSpPr>
            <p:cNvPr id="211" name="Rectangle"/>
            <p:cNvSpPr/>
            <p:nvPr/>
          </p:nvSpPr>
          <p:spPr>
            <a:xfrm>
              <a:off x="-1" y="-2"/>
              <a:ext cx="9468765" cy="5860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12" name="{{image3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{{image3}}</a:t>
              </a:r>
            </a:p>
          </p:txBody>
        </p:sp>
      </p:grpSp>
      <p:sp>
        <p:nvSpPr>
          <p:cNvPr id="214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15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21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17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8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9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0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22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{{header3}}</a:t>
            </a:r>
          </a:p>
        </p:txBody>
      </p:sp>
      <p:sp>
        <p:nvSpPr>
          <p:cNvPr id="223" name="2 января 1992 г.: Либерализация цен (отмена госконтроля).…"/>
          <p:cNvSpPr txBox="1"/>
          <p:nvPr>
            <p:ph type="body" sz="half" idx="4294967295"/>
          </p:nvPr>
        </p:nvSpPr>
        <p:spPr>
          <a:xfrm>
            <a:off x="2640655" y="8524426"/>
            <a:ext cx="19102690" cy="4491041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{{text3}}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{{image4}}"/>
          <p:cNvGrpSpPr/>
          <p:nvPr/>
        </p:nvGrpSpPr>
        <p:grpSpPr>
          <a:xfrm>
            <a:off x="13673258" y="4547084"/>
            <a:ext cx="9468765" cy="5860599"/>
            <a:chOff x="0" y="0"/>
            <a:chExt cx="9468763" cy="5860598"/>
          </a:xfrm>
        </p:grpSpPr>
        <p:sp>
          <p:nvSpPr>
            <p:cNvPr id="225" name="Rectangle"/>
            <p:cNvSpPr/>
            <p:nvPr/>
          </p:nvSpPr>
          <p:spPr>
            <a:xfrm>
              <a:off x="-1" y="0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26" name="{{image4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{{image4}}</a:t>
              </a:r>
            </a:p>
          </p:txBody>
        </p:sp>
      </p:grpSp>
      <p:sp>
        <p:nvSpPr>
          <p:cNvPr id="228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29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35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31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2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3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4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36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{{header4}}</a:t>
            </a:r>
          </a:p>
        </p:txBody>
      </p:sp>
      <p:sp>
        <p:nvSpPr>
          <p:cNvPr id="237" name="Чтобы сделать возврат к коммунизму невозможным, правительство Гайдара и Чубайса запустило процесс приватизации. Идея заключалась в том, чтобы раздать государственную собственность гражданам через ваучеры. Это должно было создать класс частных собственник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{{text4}}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40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46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42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3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4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5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47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{{header5}}</a:t>
            </a:r>
          </a:p>
        </p:txBody>
      </p:sp>
      <p:sp>
        <p:nvSpPr>
          <p:cNvPr id="248" name="Стиль: Технократизм, отсутствие популизма, сухой научный язык.…"/>
          <p:cNvSpPr txBox="1"/>
          <p:nvPr>
            <p:ph type="body" sz="half" idx="4294967295"/>
          </p:nvPr>
        </p:nvSpPr>
        <p:spPr>
          <a:xfrm>
            <a:off x="11476566" y="3515850"/>
            <a:ext cx="12482715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{{text5}}</a:t>
            </a:r>
          </a:p>
        </p:txBody>
      </p:sp>
      <p:grpSp>
        <p:nvGrpSpPr>
          <p:cNvPr id="251" name="{{image5}}"/>
          <p:cNvGrpSpPr/>
          <p:nvPr/>
        </p:nvGrpSpPr>
        <p:grpSpPr>
          <a:xfrm>
            <a:off x="528939" y="4432262"/>
            <a:ext cx="9468767" cy="5860599"/>
            <a:chOff x="-1" y="0"/>
            <a:chExt cx="9468766" cy="5860598"/>
          </a:xfrm>
        </p:grpSpPr>
        <p:sp>
          <p:nvSpPr>
            <p:cNvPr id="249" name="Rectangle"/>
            <p:cNvSpPr/>
            <p:nvPr/>
          </p:nvSpPr>
          <p:spPr>
            <a:xfrm>
              <a:off x="-2" y="-1"/>
              <a:ext cx="9468767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50" name="{{image5}}"/>
            <p:cNvSpPr txBox="1"/>
            <p:nvPr/>
          </p:nvSpPr>
          <p:spPr>
            <a:xfrm>
              <a:off x="12698" y="2526082"/>
              <a:ext cx="944336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{{image5}}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54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56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7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8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9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61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{{header6}}</a:t>
            </a:r>
          </a:p>
        </p:txBody>
      </p:sp>
      <p:sp>
        <p:nvSpPr>
          <p:cNvPr id="262" name="Григорий Явлинский: Предлагал более долгий и мягкий путь («500 дней»).…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{{text6}}</a:t>
            </a:r>
          </a:p>
        </p:txBody>
      </p:sp>
      <p:grpSp>
        <p:nvGrpSpPr>
          <p:cNvPr id="265" name="{{image6}}"/>
          <p:cNvGrpSpPr/>
          <p:nvPr/>
        </p:nvGrpSpPr>
        <p:grpSpPr>
          <a:xfrm>
            <a:off x="13673258" y="4547084"/>
            <a:ext cx="9468765" cy="5860599"/>
            <a:chOff x="0" y="0"/>
            <a:chExt cx="9468763" cy="5860598"/>
          </a:xfrm>
        </p:grpSpPr>
        <p:sp>
          <p:nvSpPr>
            <p:cNvPr id="263" name="Rectangle"/>
            <p:cNvSpPr/>
            <p:nvPr/>
          </p:nvSpPr>
          <p:spPr>
            <a:xfrm>
              <a:off x="-1" y="0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64" name="{{image6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{{image6}}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68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74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70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1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2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3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75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{{header7}}</a:t>
            </a:r>
          </a:p>
        </p:txBody>
      </p:sp>
      <p:sp>
        <p:nvSpPr>
          <p:cNvPr id="276" name="Результаты реформ Гайдара невозможно оценить однозначно. С одной стороны, за несколько месяцев исчез дефицит, и в стране заработал рынок. С другой - гиперинфляция мгновенно уничтожила многолетние сбережения граждан, а промышленное производство упало. «Шо"/>
          <p:cNvSpPr txBox="1"/>
          <p:nvPr>
            <p:ph type="body" sz="half" idx="4294967295"/>
          </p:nvPr>
        </p:nvSpPr>
        <p:spPr>
          <a:xfrm>
            <a:off x="11476566" y="3515850"/>
            <a:ext cx="12482715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{{text7}}</a:t>
            </a:r>
          </a:p>
        </p:txBody>
      </p:sp>
      <p:grpSp>
        <p:nvGrpSpPr>
          <p:cNvPr id="279" name="{{image7}}"/>
          <p:cNvGrpSpPr/>
          <p:nvPr/>
        </p:nvGrpSpPr>
        <p:grpSpPr>
          <a:xfrm>
            <a:off x="528939" y="4432262"/>
            <a:ext cx="9468767" cy="5860599"/>
            <a:chOff x="-1" y="0"/>
            <a:chExt cx="9468766" cy="5860598"/>
          </a:xfrm>
        </p:grpSpPr>
        <p:sp>
          <p:nvSpPr>
            <p:cNvPr id="277" name="Rectangle"/>
            <p:cNvSpPr/>
            <p:nvPr/>
          </p:nvSpPr>
          <p:spPr>
            <a:xfrm>
              <a:off x="-2" y="-1"/>
              <a:ext cx="9468767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78" name="{{image7}}"/>
            <p:cNvSpPr txBox="1"/>
            <p:nvPr/>
          </p:nvSpPr>
          <p:spPr>
            <a:xfrm>
              <a:off x="12698" y="2526082"/>
              <a:ext cx="944336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{{image7}}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{{image8}}"/>
          <p:cNvGrpSpPr/>
          <p:nvPr/>
        </p:nvGrpSpPr>
        <p:grpSpPr>
          <a:xfrm>
            <a:off x="7457618" y="7567637"/>
            <a:ext cx="9468765" cy="5860599"/>
            <a:chOff x="0" y="0"/>
            <a:chExt cx="9468763" cy="5860598"/>
          </a:xfrm>
        </p:grpSpPr>
        <p:sp>
          <p:nvSpPr>
            <p:cNvPr id="281" name="Rectangle"/>
            <p:cNvSpPr/>
            <p:nvPr/>
          </p:nvSpPr>
          <p:spPr>
            <a:xfrm>
              <a:off x="-1" y="-1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82" name="{{image8}}"/>
            <p:cNvSpPr txBox="1"/>
            <p:nvPr/>
          </p:nvSpPr>
          <p:spPr>
            <a:xfrm>
              <a:off x="12699" y="2526082"/>
              <a:ext cx="9443365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{{image8}}</a:t>
              </a:r>
            </a:p>
          </p:txBody>
        </p:sp>
      </p:grpSp>
      <p:sp>
        <p:nvSpPr>
          <p:cNvPr id="284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85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91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87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8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9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0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92" name="Для сторонников либерализма Гайдар остается интеллектуальным лидером и спасителем страны от гражданской войны. Для критиков - виновником «развала союза» и нищеты миллионов. Ученые-экономисты до сих пор спорят: был ли у России в 1992 году другой, более гу"/>
          <p:cNvSpPr txBox="1"/>
          <p:nvPr>
            <p:ph type="body" sz="half" idx="4294967295"/>
          </p:nvPr>
        </p:nvSpPr>
        <p:spPr>
          <a:xfrm>
            <a:off x="2640655" y="2689554"/>
            <a:ext cx="19102690" cy="4491040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{{text8}}</a:t>
            </a:r>
          </a:p>
        </p:txBody>
      </p:sp>
      <p:sp>
        <p:nvSpPr>
          <p:cNvPr id="293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{{header8}}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96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02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298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9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0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1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03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{{header9}}</a:t>
            </a:r>
          </a:p>
        </p:txBody>
      </p:sp>
      <p:sp>
        <p:nvSpPr>
          <p:cNvPr id="304" name="Институты: Создание налоговой, банковской и таможенной систем РФ.…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{{text9}}</a:t>
            </a:r>
          </a:p>
        </p:txBody>
      </p:sp>
      <p:grpSp>
        <p:nvGrpSpPr>
          <p:cNvPr id="307" name="{{image9}}"/>
          <p:cNvGrpSpPr/>
          <p:nvPr/>
        </p:nvGrpSpPr>
        <p:grpSpPr>
          <a:xfrm>
            <a:off x="13673258" y="4547084"/>
            <a:ext cx="9468765" cy="5860599"/>
            <a:chOff x="0" y="0"/>
            <a:chExt cx="9468763" cy="5860598"/>
          </a:xfrm>
        </p:grpSpPr>
        <p:sp>
          <p:nvSpPr>
            <p:cNvPr id="305" name="Rectangle"/>
            <p:cNvSpPr/>
            <p:nvPr/>
          </p:nvSpPr>
          <p:spPr>
            <a:xfrm>
              <a:off x="-1" y="0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06" name="{{image9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{{image9}}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{{image10}}"/>
          <p:cNvGrpSpPr/>
          <p:nvPr/>
        </p:nvGrpSpPr>
        <p:grpSpPr>
          <a:xfrm>
            <a:off x="528939" y="4432263"/>
            <a:ext cx="9468767" cy="5860599"/>
            <a:chOff x="-1" y="0"/>
            <a:chExt cx="9468766" cy="5860598"/>
          </a:xfrm>
        </p:grpSpPr>
        <p:sp>
          <p:nvSpPr>
            <p:cNvPr id="309" name="Rectangle"/>
            <p:cNvSpPr/>
            <p:nvPr/>
          </p:nvSpPr>
          <p:spPr>
            <a:xfrm>
              <a:off x="-2" y="0"/>
              <a:ext cx="9468767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10" name="{{image10}}"/>
            <p:cNvSpPr txBox="1"/>
            <p:nvPr/>
          </p:nvSpPr>
          <p:spPr>
            <a:xfrm>
              <a:off x="12698" y="2526082"/>
              <a:ext cx="9443367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{{image10}}</a:t>
              </a:r>
            </a:p>
          </p:txBody>
        </p:sp>
      </p:grpSp>
      <p:sp>
        <p:nvSpPr>
          <p:cNvPr id="312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13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{{header10}}</a:t>
            </a:r>
          </a:p>
        </p:txBody>
      </p:sp>
      <p:sp>
        <p:nvSpPr>
          <p:cNvPr id="315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17451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20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316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7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8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9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21" name="Обстановка: Дефицит товаров («пустые полки»), угроза голода в крупных городах, гиперинфляция, развал системы управления после распада СССР.…"/>
          <p:cNvSpPr txBox="1"/>
          <p:nvPr>
            <p:ph type="body" sz="half" idx="4294967295"/>
          </p:nvPr>
        </p:nvSpPr>
        <p:spPr>
          <a:xfrm>
            <a:off x="11476566" y="3515850"/>
            <a:ext cx="12482715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554480">
              <a:spcBef>
                <a:spcPts val="17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{{text10}}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{{image3}}"/>
          <p:cNvGrpSpPr/>
          <p:nvPr/>
        </p:nvGrpSpPr>
        <p:grpSpPr>
          <a:xfrm>
            <a:off x="7457618" y="2505634"/>
            <a:ext cx="9468765" cy="5860601"/>
            <a:chOff x="0" y="-1"/>
            <a:chExt cx="9468763" cy="5860600"/>
          </a:xfrm>
        </p:grpSpPr>
        <p:sp>
          <p:nvSpPr>
            <p:cNvPr id="323" name="Rectangle"/>
            <p:cNvSpPr/>
            <p:nvPr/>
          </p:nvSpPr>
          <p:spPr>
            <a:xfrm>
              <a:off x="-1" y="-2"/>
              <a:ext cx="9468765" cy="5860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24" name="{{image3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{{image11}}</a:t>
              </a:r>
            </a:p>
          </p:txBody>
        </p:sp>
      </p:grpSp>
      <p:sp>
        <p:nvSpPr>
          <p:cNvPr id="326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27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33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329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30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31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32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34" name="TextBox 2"/>
          <p:cNvSpPr txBox="1"/>
          <p:nvPr/>
        </p:nvSpPr>
        <p:spPr>
          <a:xfrm>
            <a:off x="1315172" y="765847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{{header11}}</a:t>
            </a:r>
          </a:p>
        </p:txBody>
      </p:sp>
      <p:sp>
        <p:nvSpPr>
          <p:cNvPr id="335" name="2 января 1992 г.: Либерализация цен (отмена госконтроля).…"/>
          <p:cNvSpPr txBox="1"/>
          <p:nvPr>
            <p:ph type="body" sz="half" idx="4294967295"/>
          </p:nvPr>
        </p:nvSpPr>
        <p:spPr>
          <a:xfrm>
            <a:off x="2640655" y="8524426"/>
            <a:ext cx="19102690" cy="4491041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{{text11}}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38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39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44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340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41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42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43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45" name="TextBox 2"/>
          <p:cNvSpPr txBox="1"/>
          <p:nvPr/>
        </p:nvSpPr>
        <p:spPr>
          <a:xfrm>
            <a:off x="1315172" y="765847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{{header12}}</a:t>
            </a:r>
          </a:p>
        </p:txBody>
      </p:sp>
      <p:sp>
        <p:nvSpPr>
          <p:cNvPr id="346" name="Григорий Явлинский: Предлагал более долгий и мягкий путь («500 дней»).…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{{text12}}</a:t>
            </a:r>
          </a:p>
        </p:txBody>
      </p:sp>
      <p:grpSp>
        <p:nvGrpSpPr>
          <p:cNvPr id="349" name="{{image6}}"/>
          <p:cNvGrpSpPr/>
          <p:nvPr/>
        </p:nvGrpSpPr>
        <p:grpSpPr>
          <a:xfrm>
            <a:off x="13673258" y="4547084"/>
            <a:ext cx="9468765" cy="5860599"/>
            <a:chOff x="0" y="0"/>
            <a:chExt cx="9468763" cy="5860598"/>
          </a:xfrm>
        </p:grpSpPr>
        <p:sp>
          <p:nvSpPr>
            <p:cNvPr id="347" name="Rectangle"/>
            <p:cNvSpPr/>
            <p:nvPr/>
          </p:nvSpPr>
          <p:spPr>
            <a:xfrm>
              <a:off x="-1" y="0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48" name="{{image6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{{image12}}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52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58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354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55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56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57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59" name="TextBox 2"/>
          <p:cNvSpPr txBox="1"/>
          <p:nvPr/>
        </p:nvSpPr>
        <p:spPr>
          <a:xfrm>
            <a:off x="1315172" y="765847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{{header13}}</a:t>
            </a:r>
          </a:p>
        </p:txBody>
      </p:sp>
      <p:sp>
        <p:nvSpPr>
          <p:cNvPr id="360" name="Результаты реформ Гайдара невозможно оценить однозначно. С одной стороны, за несколько месяцев исчез дефицит, и в стране заработал рынок. С другой - гиперинфляция мгновенно уничтожила многолетние сбережения граждан, а промышленное производство упало. «Шо"/>
          <p:cNvSpPr txBox="1"/>
          <p:nvPr>
            <p:ph type="body" sz="half" idx="4294967295"/>
          </p:nvPr>
        </p:nvSpPr>
        <p:spPr>
          <a:xfrm>
            <a:off x="11476566" y="3515850"/>
            <a:ext cx="12482715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{{text13}}</a:t>
            </a:r>
          </a:p>
        </p:txBody>
      </p:sp>
      <p:grpSp>
        <p:nvGrpSpPr>
          <p:cNvPr id="363" name="{{image7}}"/>
          <p:cNvGrpSpPr/>
          <p:nvPr/>
        </p:nvGrpSpPr>
        <p:grpSpPr>
          <a:xfrm>
            <a:off x="528939" y="4432262"/>
            <a:ext cx="9468767" cy="5860599"/>
            <a:chOff x="-1" y="0"/>
            <a:chExt cx="9468766" cy="5860598"/>
          </a:xfrm>
        </p:grpSpPr>
        <p:sp>
          <p:nvSpPr>
            <p:cNvPr id="361" name="Rectangle"/>
            <p:cNvSpPr/>
            <p:nvPr/>
          </p:nvSpPr>
          <p:spPr>
            <a:xfrm>
              <a:off x="-2" y="-1"/>
              <a:ext cx="9468767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62" name="{{image7}}"/>
            <p:cNvSpPr txBox="1"/>
            <p:nvPr/>
          </p:nvSpPr>
          <p:spPr>
            <a:xfrm>
              <a:off x="12698" y="2526082"/>
              <a:ext cx="944336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{{image13}}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66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72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368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69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70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71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73" name="TextBox 2"/>
          <p:cNvSpPr txBox="1"/>
          <p:nvPr/>
        </p:nvSpPr>
        <p:spPr>
          <a:xfrm>
            <a:off x="1315172" y="765847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{{header14}}</a:t>
            </a:r>
          </a:p>
        </p:txBody>
      </p:sp>
      <p:sp>
        <p:nvSpPr>
          <p:cNvPr id="374" name="Григорий Явлинский: Предлагал более долгий и мягкий путь («500 дней»).…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{{text14}}</a:t>
            </a:r>
          </a:p>
        </p:txBody>
      </p:sp>
      <p:grpSp>
        <p:nvGrpSpPr>
          <p:cNvPr id="377" name="{{image6}}"/>
          <p:cNvGrpSpPr/>
          <p:nvPr/>
        </p:nvGrpSpPr>
        <p:grpSpPr>
          <a:xfrm>
            <a:off x="13673258" y="4547084"/>
            <a:ext cx="9468765" cy="5860599"/>
            <a:chOff x="0" y="0"/>
            <a:chExt cx="9468763" cy="5860598"/>
          </a:xfrm>
        </p:grpSpPr>
        <p:sp>
          <p:nvSpPr>
            <p:cNvPr id="375" name="Rectangle"/>
            <p:cNvSpPr/>
            <p:nvPr/>
          </p:nvSpPr>
          <p:spPr>
            <a:xfrm>
              <a:off x="-1" y="0"/>
              <a:ext cx="9468765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76" name="{{image6}}"/>
            <p:cNvSpPr txBox="1"/>
            <p:nvPr/>
          </p:nvSpPr>
          <p:spPr>
            <a:xfrm>
              <a:off x="12699" y="2526082"/>
              <a:ext cx="9443365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{{image14}}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80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80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86" name="rectangles"/>
          <p:cNvGrpSpPr/>
          <p:nvPr/>
        </p:nvGrpSpPr>
        <p:grpSpPr>
          <a:xfrm>
            <a:off x="23959124" y="12730652"/>
            <a:ext cx="94637" cy="478783"/>
            <a:chOff x="0" y="0"/>
            <a:chExt cx="94635" cy="478782"/>
          </a:xfrm>
        </p:grpSpPr>
        <p:sp>
          <p:nvSpPr>
            <p:cNvPr id="382" name="rectangle"/>
            <p:cNvSpPr/>
            <p:nvPr/>
          </p:nvSpPr>
          <p:spPr>
            <a:xfrm>
              <a:off x="-1" y="-1"/>
              <a:ext cx="94636" cy="91444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3" name="rectangle"/>
            <p:cNvSpPr/>
            <p:nvPr/>
          </p:nvSpPr>
          <p:spPr>
            <a:xfrm>
              <a:off x="-1" y="129111"/>
              <a:ext cx="94636" cy="91448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4" name="rectangle"/>
            <p:cNvSpPr/>
            <p:nvPr/>
          </p:nvSpPr>
          <p:spPr>
            <a:xfrm>
              <a:off x="-1" y="258224"/>
              <a:ext cx="94636" cy="9144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5" name="rectangle"/>
            <p:cNvSpPr/>
            <p:nvPr/>
          </p:nvSpPr>
          <p:spPr>
            <a:xfrm>
              <a:off x="-1" y="387334"/>
              <a:ext cx="94636" cy="91448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87" name="TextBox 2"/>
          <p:cNvSpPr txBox="1"/>
          <p:nvPr/>
        </p:nvSpPr>
        <p:spPr>
          <a:xfrm>
            <a:off x="1315172" y="765847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{{header15}}</a:t>
            </a:r>
          </a:p>
        </p:txBody>
      </p:sp>
      <p:sp>
        <p:nvSpPr>
          <p:cNvPr id="388" name="Результаты реформ Гайдара невозможно оценить однозначно. С одной стороны, за несколько месяцев исчез дефицит, и в стране заработал рынок. С другой - гиперинфляция мгновенно уничтожила многолетние сбережения граждан, а промышленное производство упало. «Шо"/>
          <p:cNvSpPr txBox="1"/>
          <p:nvPr>
            <p:ph type="body" sz="half" idx="4294967295"/>
          </p:nvPr>
        </p:nvSpPr>
        <p:spPr>
          <a:xfrm>
            <a:off x="11476566" y="3515850"/>
            <a:ext cx="12482715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{{text15}}</a:t>
            </a:r>
          </a:p>
        </p:txBody>
      </p:sp>
      <p:grpSp>
        <p:nvGrpSpPr>
          <p:cNvPr id="391" name="{{image7}}"/>
          <p:cNvGrpSpPr/>
          <p:nvPr/>
        </p:nvGrpSpPr>
        <p:grpSpPr>
          <a:xfrm>
            <a:off x="528939" y="4432262"/>
            <a:ext cx="9468767" cy="5860599"/>
            <a:chOff x="-1" y="0"/>
            <a:chExt cx="9468766" cy="5860598"/>
          </a:xfrm>
        </p:grpSpPr>
        <p:sp>
          <p:nvSpPr>
            <p:cNvPr id="389" name="Rectangle"/>
            <p:cNvSpPr/>
            <p:nvPr/>
          </p:nvSpPr>
          <p:spPr>
            <a:xfrm>
              <a:off x="-2" y="-1"/>
              <a:ext cx="9468767" cy="58605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90" name="{{image7}}"/>
            <p:cNvSpPr txBox="1"/>
            <p:nvPr/>
          </p:nvSpPr>
          <p:spPr>
            <a:xfrm>
              <a:off x="12698" y="2526082"/>
              <a:ext cx="944336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{{image15}}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rectangles"/>
          <p:cNvGrpSpPr/>
          <p:nvPr/>
        </p:nvGrpSpPr>
        <p:grpSpPr>
          <a:xfrm>
            <a:off x="-18" y="10748860"/>
            <a:ext cx="24384026" cy="378964"/>
            <a:chOff x="-1" y="0"/>
            <a:chExt cx="24384024" cy="378962"/>
          </a:xfrm>
        </p:grpSpPr>
        <p:sp>
          <p:nvSpPr>
            <p:cNvPr id="393" name="Rectangle 1"/>
            <p:cNvSpPr/>
            <p:nvPr/>
          </p:nvSpPr>
          <p:spPr>
            <a:xfrm>
              <a:off x="-2" y="-1"/>
              <a:ext cx="6096009" cy="378963"/>
            </a:xfrm>
            <a:prstGeom prst="rect">
              <a:avLst/>
            </a:prstGeom>
            <a:solidFill>
              <a:srgbClr val="ABCEF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94" name="Rectangle 2"/>
            <p:cNvSpPr/>
            <p:nvPr/>
          </p:nvSpPr>
          <p:spPr>
            <a:xfrm>
              <a:off x="6096008" y="-1"/>
              <a:ext cx="6096004" cy="378963"/>
            </a:xfrm>
            <a:prstGeom prst="rect">
              <a:avLst/>
            </a:prstGeom>
            <a:solidFill>
              <a:srgbClr val="4F9BE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95" name="Rectangle 3"/>
            <p:cNvSpPr/>
            <p:nvPr/>
          </p:nvSpPr>
          <p:spPr>
            <a:xfrm>
              <a:off x="12192010" y="-1"/>
              <a:ext cx="6096008" cy="378963"/>
            </a:xfrm>
            <a:prstGeom prst="rect">
              <a:avLst/>
            </a:prstGeom>
            <a:solidFill>
              <a:srgbClr val="124D8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96" name="Rectangle 4"/>
            <p:cNvSpPr/>
            <p:nvPr/>
          </p:nvSpPr>
          <p:spPr>
            <a:xfrm>
              <a:off x="18288015" y="-1"/>
              <a:ext cx="6096008" cy="378963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98" name="main title"/>
          <p:cNvSpPr txBox="1"/>
          <p:nvPr/>
        </p:nvSpPr>
        <p:spPr>
          <a:xfrm>
            <a:off x="8350952" y="11618568"/>
            <a:ext cx="7612373" cy="1122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6400">
                <a:solidFill>
                  <a:srgbClr val="0B2D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Спасибо за внимание!</a:t>
            </a:r>
          </a:p>
        </p:txBody>
      </p:sp>
      <p:pic>
        <p:nvPicPr>
          <p:cNvPr id="399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rcRect l="0" t="9287" r="0" b="0"/>
          <a:stretch>
            <a:fillRect/>
          </a:stretch>
        </p:blipFill>
        <p:spPr>
          <a:xfrm>
            <a:off x="0" y="0"/>
            <a:ext cx="24384000" cy="10711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